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63" r:id="rId19"/>
    <p:sldId id="264" r:id="rId20"/>
    <p:sldId id="266" r:id="rId21"/>
    <p:sldId id="265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267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>
        <p:scale>
          <a:sx n="131" d="100"/>
          <a:sy n="131" d="100"/>
        </p:scale>
        <p:origin x="-328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02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0476D-6384-955F-AA99-D8E9A60DF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49886-E1A0-7B42-5ACC-480934023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C51EB-2474-6526-B8BC-583BCA341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DAC94-E6F1-10B2-0C2C-F2AA9E724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48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F575A-5371-AF1C-C732-B333D21A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2784C-48F3-797E-F06D-ADA2FCC5C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1E948-D11C-E750-F948-BB6347536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F7FE5-F3F1-1059-34E4-168B41395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51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AA74-3D26-37B8-629F-C444B2AF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752D6-0B52-3E00-D6BB-32A744D32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A6C7A-69C9-6E6E-803A-F1B820A80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3B747-9CB0-C0C4-9738-705DF3233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720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FB90-AA2C-A6F6-015E-B4D3ADA8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6424E-82AA-4BB7-176B-DC57B89F9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FDC30-1B93-14AE-67F4-B5734CF2A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7C56A-03B1-423C-1873-29283A1EF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41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50CB-1911-EE40-2293-E65DBA26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6CDF4-9791-CE75-34A2-804C918A1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25ACB-D1BF-1D61-2350-569A3689A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F8C83-4327-F205-A789-801682AAA5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15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9947B-43C4-1E47-FD30-DCBE0E0E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8E972-B394-739F-C1A4-BFFAD7E36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F316B-E73E-E40E-BC20-A828F1388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AD7BA-8F5F-62E8-50B9-A7A52D79CE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50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641F4-8EF4-4C55-5F8A-167F263D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111C0-5509-1FC6-C91E-510CBAA08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58629-5697-1301-28EB-00A9DE36A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72F97-AB64-FEB8-B7FA-904478912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5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7560E-85FD-F5ED-A408-5CFD4890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021ED-ED35-EA14-3423-BCD178704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37E8F-97C8-2C8F-B782-39E9F7F60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D3D0D-7951-A155-6662-84362884D1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89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92EEE-231B-2FFE-1619-51FE1033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A242A-2C3A-0362-97C9-86A774DE5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B368D-0073-2F22-F81B-C60A5D87D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5727D-8F6C-A049-3534-7F36887E4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71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4C769-9272-6E67-1585-DEDB3546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6CD7B-F6F0-BAD5-230F-EF2F00990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42CD4-DD87-18E3-A646-4BD642AE6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968D7-9EB6-E939-30F6-1835ED53C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87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2EE6-77C7-1478-3499-D46D80AED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2EBF9-8F2D-82B5-B642-C503AB053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0D920-D776-8195-0B43-9D3B629E1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C2237-886D-885D-99A6-67AD19723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080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3D35-59D6-9195-B553-9F2E31624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B5047-AB63-348B-3EB8-E9A805E67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15E62-ACAC-B702-408D-08EC7265C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E2965-4CE7-0D11-ECCC-79E2C1A46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158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05077-203C-0107-E33E-183A37502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981A5-7CE3-CE45-AC3C-CE1B716CC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328A7-29DC-E133-2E3C-1000E1033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FD362-3F0C-3A58-B5EF-22B22D1DD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109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DC46-D040-1A71-AE18-A553BD43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4B23C-48ED-C5FA-F2AB-3AE3ADEBA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4EF0B-52ED-6C8D-D9B2-58E10C0AF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B05CA-0728-7442-91A7-8D5456E1B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589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C76F9-FA80-9777-DA30-65EB6C71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039FA-E6AC-28D9-5D69-C4058F227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DCE6B-613D-B4CD-4B85-63313E9EE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BA808-603D-1E0E-A769-8AA595D575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1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1448-44F8-4910-8AA7-3FE543026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8944A-2C4E-78DE-D75A-8A3664C09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77E18-CDE0-4BF9-00C9-8DF0D9AB1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B181B-78FF-2A2E-AFA6-3985E0278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276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B45CC-3618-3D7E-2C21-9F9116D2B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98FEC-3564-7AC1-A026-78EFADBEE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4596C-F46E-FC60-2D63-13A7636F0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059BD-6C10-3F97-EC80-A4BC2C48E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596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20365-AA37-BA44-86F7-1D121FDD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DEBBA-790D-AA2A-B18F-9A12A45FB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D8784-E732-52D8-8426-6EB617D89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1472D-5A3E-C773-B359-4CC80C802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857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5F979-D691-10C6-5ADF-04402E7A8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081B8-882A-F487-96D2-0AC55EB9E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662B5-7B90-334F-E88C-501141B45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FB0B7-437E-89C8-1DAA-82E0E1B37C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189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24F7F-80D0-DED8-5A29-911DF3EB1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01DC2-EEF0-036E-CCC2-9FB905A50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5EFB7-D1C3-7282-009D-07166E68B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DAEC5-8AD1-A022-6A5A-D1E5E2271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027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F879-700C-C815-2927-A1CC4677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998A5-7202-2C10-F608-F6498E69B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1CB5D-29D3-9237-1761-8CE8C6675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EFF88-B3E4-938A-9811-7BEAF4984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727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E9D07-3E21-A829-7C32-AF7EE0ECA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9BF6A-8825-BACF-C354-1EE23FFBA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8B81F-D2F4-6826-024A-8AEF4CCA3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A037B-A084-9E8C-42D1-C651AE8D6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395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3833-AAD3-FD12-0BAE-E4F948D9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B0DCB-5EF4-89D7-6DFA-D7263416B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91899-E4A8-004B-81F2-2AE2E349F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F1146-D041-860E-A8A6-42A72D18B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580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E3FB7-793D-F149-2517-E4252578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AEF94-799C-6D40-6F7C-BCB4850F8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11E91-0B24-E699-D580-762CCF414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13EB4-51A5-55A2-D373-594EAD7579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362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9393-31D4-A4C7-31D4-6AC4F575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184CB-C0B9-5AF5-1D3F-0F90BF0D8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324521-5D4F-CECE-F0BF-5ED5A6AAC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A6911-98D0-483D-4841-8AF9613FE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502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A9DC-A1D3-3D71-CC35-CB9EDB3B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D1AE1-29A5-DE29-EEF2-F742C80B6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AB28A-D099-7AB7-4DEF-45EF38935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996C2-6762-0FC4-7EE1-AF6A6381B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778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14E8-5553-E243-1107-FF2F78B1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3C581-E4E9-E29C-F342-1C6C6001C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14E56-4F9F-73DA-9C6B-946CC5EFC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D6A9-6797-9A80-DD7B-83D58CB2F5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011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401FC-C7D6-25B4-64E0-9930DEC5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C5CDF-49A6-0BBB-D78D-BE4C97169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EC862-8959-97C3-E260-1BC89A1A8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3E8F5-457D-899B-1116-123462195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588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1EE67-4B2E-3A19-D113-C4BFEE9D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DA7E2-564A-BBFB-9232-F65C8B856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42C18-4D15-112A-6935-7893D4247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6DCBD-308D-C69E-A862-A9D714903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143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2911-E206-B69A-9B1E-DB8D9BC9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45453-E682-3FBB-18F3-36A0DC3FE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2891A-8E9F-D692-7372-4DB241641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C3101-A661-5DCE-8211-318CFC596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745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3931F-CB2F-C1E1-C250-465DFB19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3DC66-9E4E-BCDB-E107-13821D3B8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7AE01-81A6-653E-A747-B36E722A1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B1800-DD52-C92D-D4BA-8D3390A8DC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254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00C3-1A0E-044A-EA04-E5D1E2D2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741F0-1A21-F3C6-EADE-A1878780B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150D5-237A-CEC0-76F8-4AC845F55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6D96B-84AD-0938-4CDD-9E1543E520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417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E894-300C-73DE-F418-E3B0BD739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DB334-E273-9A28-FB4C-9B0B3E214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BC024-607A-5C09-4392-6FFB7FF80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A85D2-2572-5BB3-FEA2-0616E4DD9B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90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48FFD-57F2-2532-FB23-16B40AD3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EF4D5-AA8E-3381-D536-8B3EEF258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D0F4E-A23D-0828-39E3-71CD658DA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0CD3D-6D6C-10FD-AF42-D1441E7AA9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253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1819-79B4-F136-1B5C-7BBF4EBC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82342-AA03-7AC1-B58E-73462826A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68C6E-7127-ECC4-18FA-9A00E7051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365D6-DCFC-8D34-F956-FCF91FDE4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773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3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114800" cy="4114800"/>
          </a:xfrm>
          <a:prstGeom prst="ellipse">
            <a:avLst/>
          </a:prstGeom>
          <a:solidFill>
            <a:srgbClr val="2E86C1">
              <a:alpha val="30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AED6F1">
              <a:alpha val="20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" name="Shape 2"/>
          <p:cNvSpPr/>
          <p:nvPr/>
        </p:nvSpPr>
        <p:spPr>
          <a:xfrm>
            <a:off x="5318608" y="1051560"/>
            <a:ext cx="1554480" cy="155448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5" name="Image 0" descr="/tmp/report_work/pptx_assets/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936" y="1389888"/>
            <a:ext cx="877824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AED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SUMMER TRAINING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29184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Seven Weeks at Tasheel Information Technology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0" y="4251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EA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Aldana Ashraf Felemban  —  Computer Science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ED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July – 20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Seven weeks, from onboarding to full system integration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3383280"/>
            <a:ext cx="10362895" cy="0"/>
          </a:xfrm>
          <a:prstGeom prst="line">
            <a:avLst/>
          </a:prstGeom>
          <a:noFill/>
          <a:ln w="381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594360" y="3063240"/>
            <a:ext cx="640080" cy="640080"/>
          </a:xfrm>
          <a:prstGeom prst="ellipse">
            <a:avLst/>
          </a:prstGeom>
          <a:solidFill>
            <a:srgbClr val="2E86C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21509" y="3063240"/>
            <a:ext cx="640080" cy="640080"/>
          </a:xfrm>
          <a:prstGeom prst="ellipse">
            <a:avLst/>
          </a:prstGeom>
          <a:solidFill>
            <a:srgbClr val="15436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2321509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55749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48658" y="3063240"/>
            <a:ext cx="640080" cy="640080"/>
          </a:xfrm>
          <a:prstGeom prst="ellipse">
            <a:avLst/>
          </a:prstGeom>
          <a:solidFill>
            <a:srgbClr val="2E86C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4048658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82898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75808" y="3063240"/>
            <a:ext cx="640080" cy="640080"/>
          </a:xfrm>
          <a:prstGeom prst="ellipse">
            <a:avLst/>
          </a:prstGeom>
          <a:solidFill>
            <a:srgbClr val="15436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775808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10048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02957" y="3063240"/>
            <a:ext cx="640080" cy="640080"/>
          </a:xfrm>
          <a:prstGeom prst="ellipse">
            <a:avLst/>
          </a:prstGeom>
          <a:solidFill>
            <a:srgbClr val="2E86C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7502957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7197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AVS 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0106" y="3063240"/>
            <a:ext cx="640080" cy="640080"/>
          </a:xfrm>
          <a:prstGeom prst="ellipse">
            <a:avLst/>
          </a:prstGeom>
          <a:solidFill>
            <a:srgbClr val="15436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9230106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64346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AVS Coding &amp; Testing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957255" y="3063240"/>
            <a:ext cx="640080" cy="640080"/>
          </a:xfrm>
          <a:prstGeom prst="ellipse">
            <a:avLst/>
          </a:prstGeom>
          <a:solidFill>
            <a:srgbClr val="2E86C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10957255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591495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631">
                <a:alpha val="10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960120" y="53035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systems built end-to-end: </a:t>
            </a:r>
            <a:r>
              <a:rPr lang="en-US" sz="14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 and the Airport Visit Management System (AVS) — designed, developed, tested, and integrated into a single connected platform.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9601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Onboarding &amp; Git Fundamentals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05740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– 9 July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911535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1008857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Introduced to Tasheel IT, its tools, and services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 up Git and GitHub environment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Practiced commits, branching, and merging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Reviewed the company's Project Tracking System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1 of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9601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Analysis — Project Tracking System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05740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– 16 July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911535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1008857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Analyzed PTS modules, users, and stakeholders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Interviewed a Project Manager on real usage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Wrote functional &amp; non-functional requirements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use case and activity diagrams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2 of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9601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— Architecture &amp; Delete Feature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05740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– 23 July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911535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1008857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Reviewed EmployeeForm's MVC architecture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Designed the DeleteEmployee feature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admin safeguards and validation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Resolved a nested Git merge conflict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3 of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9601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Collaborative Software Development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05740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 – 30 July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911535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1008857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Studied feature branches, PRs, and code review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Opened a pull request on GitHub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through review conflicts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Merged DeleteEmployee into main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4 of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 in as Admin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6EAE45-AF93-926F-B0DF-B28CE864203A}"/>
              </a:ext>
            </a:extLst>
          </p:cNvPr>
          <p:cNvGrpSpPr/>
          <p:nvPr/>
        </p:nvGrpSpPr>
        <p:grpSpPr>
          <a:xfrm>
            <a:off x="2048508" y="1984248"/>
            <a:ext cx="7772400" cy="4224333"/>
            <a:chOff x="822960" y="1965960"/>
            <a:chExt cx="10545775" cy="4069080"/>
          </a:xfrm>
        </p:grpSpPr>
        <p:sp>
          <p:nvSpPr>
            <p:cNvPr id="8" name="Shape 5"/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/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/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/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/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/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/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</a:t>
              </a:r>
              <a:r>
                <a:rPr lang="en-US" sz="1100" dirty="0" err="1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efs.tasheelinfotech.local</a:t>
              </a: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/Login</a:t>
              </a:r>
              <a:endParaRPr lang="en-US" sz="11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D8788F-B780-4959-1BE5-079C7D1CF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508" y="2382949"/>
            <a:ext cx="7772400" cy="3825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37D5-8328-5E2B-D77A-C98A8E754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85E1D1-8278-CF0F-7871-365B8CD589D7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>
            <a:extLst>
              <a:ext uri="{FF2B5EF4-FFF2-40B4-BE49-F238E27FC236}">
                <a16:creationId xmlns:a16="http://schemas.microsoft.com/office/drawing/2014/main" id="{F6C305C2-FF4B-E249-EAC2-385DFA536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B18F1B4-B5A2-B4ED-4E99-CDC59BC6B3AC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395AA6-ED8D-5749-F007-81619D06799D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3BCE35A-5E46-C059-7194-6BF98F254667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7F57F52-5B0F-BE51-315D-B9CEBEAD10CB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to the systems modules.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CBA6B5-697F-EA95-201E-2064F7D77DA4}"/>
              </a:ext>
            </a:extLst>
          </p:cNvPr>
          <p:cNvGrpSpPr/>
          <p:nvPr/>
        </p:nvGrpSpPr>
        <p:grpSpPr>
          <a:xfrm>
            <a:off x="2048508" y="1984248"/>
            <a:ext cx="7772400" cy="4224333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0E15A009-F3F0-1771-C195-B15BB5B2520A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B5E09C32-B060-CE56-F67A-F2C21EEFF6EA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9C6AF5A4-C4E3-676D-1CA3-07775220972D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B3AE0E44-5A98-703F-9962-23ECC8A04B61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FF422760-51A5-3284-ECC2-DECFEF44F05E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78F79778-9BEE-8C8E-B97B-12362B2F5096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700E347E-E7CA-5196-302F-E350978C54DC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83854410-1859-AD98-EBD9-BF97B6AA4BF1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4E33C001-3CEB-1D7D-9CF2-0697ED7D9388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230602B-8037-81EB-C7DE-A7A2A87E8F67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5DE700-5402-DDAD-91FF-11A05E8C6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397615"/>
            <a:ext cx="7772400" cy="3810965"/>
          </a:xfrm>
          <a:prstGeom prst="rect">
            <a:avLst/>
          </a:prstGeom>
        </p:spPr>
      </p:pic>
      <p:sp>
        <p:nvSpPr>
          <p:cNvPr id="20" name="Right Arrow 19">
            <a:extLst>
              <a:ext uri="{FF2B5EF4-FFF2-40B4-BE49-F238E27FC236}">
                <a16:creationId xmlns:a16="http://schemas.microsoft.com/office/drawing/2014/main" id="{44DDB5B0-0C69-F72C-FF43-E0BC19850DCC}"/>
              </a:ext>
            </a:extLst>
          </p:cNvPr>
          <p:cNvSpPr/>
          <p:nvPr/>
        </p:nvSpPr>
        <p:spPr>
          <a:xfrm flipV="1">
            <a:off x="1017513" y="3014603"/>
            <a:ext cx="1018212" cy="2237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759098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0C7C-FA6A-7AF9-91C4-8E7E2850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3F7B94-A4E0-8F8B-9633-CE1C6D343711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>
            <a:extLst>
              <a:ext uri="{FF2B5EF4-FFF2-40B4-BE49-F238E27FC236}">
                <a16:creationId xmlns:a16="http://schemas.microsoft.com/office/drawing/2014/main" id="{DA10FCA9-EEA6-F3DC-C8A4-B1CFDBFE6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E85DBE7-904A-FBEA-1B1F-845BF06C223C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8F72027-063B-053F-70BE-81AD3F6B2152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54375B0-D1F4-AC0B-CD4C-43581DB6BE37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List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8724FC2-8DFB-E2ED-71C9-CBF3927051E3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View, Add, and Edit employees.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A8AD23-7D7B-2833-0414-CDAD94D83B0E}"/>
              </a:ext>
            </a:extLst>
          </p:cNvPr>
          <p:cNvGrpSpPr/>
          <p:nvPr/>
        </p:nvGrpSpPr>
        <p:grpSpPr>
          <a:xfrm>
            <a:off x="1504937" y="1956816"/>
            <a:ext cx="8877325" cy="4187951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40BE1AE1-CF6B-7BA3-7B2B-7CFED00B2E2A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2FA1A0C1-4869-FDE8-C45A-6F880471BD34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0CBB3E30-46ED-4EFD-86F3-62E3643483CD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A0162B22-FE42-9545-8054-03C66782C666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AA3FABE9-2B07-9A9C-1470-F42A15550CAF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36AE0417-7C92-841C-7060-4BB43AF331A4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B206366F-D18F-3FA2-3C69-8DE5C3788CF5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74F68637-1593-543D-D5FB-F602B68BF7AE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9FBC93D4-BF81-0543-1DC9-0262DE22C99D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F7E2310-797D-FD1A-3022-8A0F17859B27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0239243-A8F5-5B55-79AE-A3E6AC503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937" y="2358993"/>
            <a:ext cx="8877325" cy="3989178"/>
          </a:xfrm>
          <a:prstGeom prst="rect">
            <a:avLst/>
          </a:prstGeom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86DC0FFB-C555-A970-E6C1-79A1BE64632D}"/>
              </a:ext>
            </a:extLst>
          </p:cNvPr>
          <p:cNvSpPr/>
          <p:nvPr/>
        </p:nvSpPr>
        <p:spPr>
          <a:xfrm rot="8882951">
            <a:off x="8856385" y="2432233"/>
            <a:ext cx="846307" cy="254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669672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42D9-027D-8B86-277F-906549FE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025710-4DAF-C668-BDBA-07FC05E43F2B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>
            <a:extLst>
              <a:ext uri="{FF2B5EF4-FFF2-40B4-BE49-F238E27FC236}">
                <a16:creationId xmlns:a16="http://schemas.microsoft.com/office/drawing/2014/main" id="{A3E43A40-6F79-23C3-BD78-F80F2EDF0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A1FC092-B3D7-69E9-D787-3CDB5ABE9FCE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060F5FE-453D-379E-F2DF-A19E3D0B7FDF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5F48DDA-61AA-D427-B010-F64D2C855532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Employee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E106740-9272-52CD-7119-99C406E84913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Registering a new Employe to the system.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D010FC-EDE5-116F-CCB5-137BCB85E5AC}"/>
              </a:ext>
            </a:extLst>
          </p:cNvPr>
          <p:cNvGrpSpPr/>
          <p:nvPr/>
        </p:nvGrpSpPr>
        <p:grpSpPr>
          <a:xfrm>
            <a:off x="1504937" y="1956816"/>
            <a:ext cx="8877325" cy="4187951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54865D24-0967-9341-625B-BB1D377267C7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9EBB3228-B099-BEB6-A04B-775C4B8F0E94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4C99ECEF-EF80-98B5-8684-4FC6530FFB71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02803395-5A30-90AF-9552-8220A75F14D6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3B152CF4-1FD8-F142-989C-47E7D6304C1D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9486A68C-ED20-45C2-7437-0ED4891267C7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255DB62C-AB7E-3CB5-5F8F-0EAE71B24AD0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415A7E0E-4EFD-33DE-7A4C-60B089FA596A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1945E9D3-9B4D-98A5-953D-1BFF65FD66D1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595F836-ED81-FD1D-7AAA-A67B5DD11CB3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9A65CF8-3FF1-9A05-6582-B23B37971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323850"/>
            <a:ext cx="8873502" cy="388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11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2A77-F0CA-8399-1718-451414EB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8E4EB1-5409-1724-8512-C23190AE6733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>
            <a:extLst>
              <a:ext uri="{FF2B5EF4-FFF2-40B4-BE49-F238E27FC236}">
                <a16:creationId xmlns:a16="http://schemas.microsoft.com/office/drawing/2014/main" id="{78C9F0FB-E028-3597-0066-C7BF9D44E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9050CF1-553C-604E-AB53-1C8890E7911C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F6E31A6-15C5-4BFE-435D-C6678BD195D9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26B43C9-A245-3E03-736E-859ED5579E37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Employee (continued)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7B42322-2075-DA70-034C-F853C2685066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Registering a new Employe to the system.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F6F3F3-9EC6-51A4-35F9-375413052EE8}"/>
              </a:ext>
            </a:extLst>
          </p:cNvPr>
          <p:cNvGrpSpPr/>
          <p:nvPr/>
        </p:nvGrpSpPr>
        <p:grpSpPr>
          <a:xfrm>
            <a:off x="1504937" y="1956816"/>
            <a:ext cx="8877325" cy="4187951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6BB91B50-80AD-8C32-A61A-6AE863061F42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63C4D192-A3B3-1F34-2C85-8F5C827F4FB5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F199051E-E681-41BF-4FFD-493746DF769D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56BDFAF4-6CA6-7E2B-E114-7AE81244CC0F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B07CB542-DD88-51AD-65A1-9EB793DD2AF6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39FA0E65-55F4-D773-55F3-74C859BE927C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114614C5-CA2B-E987-988A-301007C6137D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AFD9CD2E-5509-08EF-171C-9FDD3768CF5F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3208428F-511A-D60E-2235-18A0E17CD257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BC5D3B1-9564-CBAA-6439-D330BB56F09A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C59EAC0-77BD-3E9C-79FD-57EFB4183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358591"/>
            <a:ext cx="8873502" cy="3884103"/>
          </a:xfrm>
          <a:prstGeom prst="rect">
            <a:avLst/>
          </a:prstGeom>
        </p:spPr>
      </p:pic>
      <p:sp>
        <p:nvSpPr>
          <p:cNvPr id="21" name="Right Arrow 20">
            <a:extLst>
              <a:ext uri="{FF2B5EF4-FFF2-40B4-BE49-F238E27FC236}">
                <a16:creationId xmlns:a16="http://schemas.microsoft.com/office/drawing/2014/main" id="{EDB7C328-57A3-D328-79F1-F615808AFEF9}"/>
              </a:ext>
            </a:extLst>
          </p:cNvPr>
          <p:cNvSpPr/>
          <p:nvPr/>
        </p:nvSpPr>
        <p:spPr>
          <a:xfrm>
            <a:off x="1289946" y="5847334"/>
            <a:ext cx="1138136" cy="23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982098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32E0-688E-8437-68FF-10D6E6BF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C471CC-046D-DC4B-5B8B-8C2CC6B7FC39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>
            <a:extLst>
              <a:ext uri="{FF2B5EF4-FFF2-40B4-BE49-F238E27FC236}">
                <a16:creationId xmlns:a16="http://schemas.microsoft.com/office/drawing/2014/main" id="{A19F91D0-AC8C-83C3-1492-80498F05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12F033E-AAC6-B420-472A-BD282F8AC3D6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B7668EC-5864-6DA0-8676-E8DD46AE7186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8E4FD11-2FDF-64F0-3FFD-DF3191FEE470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List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BAD3E89-7456-0799-2883-DECAD1CB84BD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Adding new employee complete.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9AB60B-70CD-BEF1-FA1A-0A1EE516E9BA}"/>
              </a:ext>
            </a:extLst>
          </p:cNvPr>
          <p:cNvGrpSpPr/>
          <p:nvPr/>
        </p:nvGrpSpPr>
        <p:grpSpPr>
          <a:xfrm>
            <a:off x="1504937" y="1956816"/>
            <a:ext cx="8877325" cy="4187951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3272D34A-55B4-903F-DA4D-D9D76C40CE33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25255BED-D0F9-AD8A-A555-087C1E02BC40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1206CDC9-89D5-2932-23F3-A4F66EB91BB7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01C768D3-9029-28D9-E96E-C8348696E1F3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C0C9EBF7-B73A-799F-DABA-D2EE5FDCA110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7AACB360-E92E-A4EE-D943-7746BB3D7BE7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69D2B36C-8409-F8DE-B95D-C6E07260ECF2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FFE8D098-B4F1-FD6C-00CF-BB147C2C1940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88120F1A-88B3-E6E0-B184-BF6C84E09C13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6826DAB-1905-B513-1E89-E2EAECC2B75E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C8C6A5-0D02-64A5-AE86-D63F5B49B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343603"/>
            <a:ext cx="8873502" cy="3901213"/>
          </a:xfrm>
          <a:prstGeom prst="rect">
            <a:avLst/>
          </a:prstGeom>
        </p:spPr>
      </p:pic>
      <p:sp>
        <p:nvSpPr>
          <p:cNvPr id="21" name="Right Arrow 20">
            <a:extLst>
              <a:ext uri="{FF2B5EF4-FFF2-40B4-BE49-F238E27FC236}">
                <a16:creationId xmlns:a16="http://schemas.microsoft.com/office/drawing/2014/main" id="{6CD5A494-F5B5-D22A-CC13-3C3E33DF2C01}"/>
              </a:ext>
            </a:extLst>
          </p:cNvPr>
          <p:cNvSpPr/>
          <p:nvPr/>
        </p:nvSpPr>
        <p:spPr>
          <a:xfrm>
            <a:off x="1041554" y="5826868"/>
            <a:ext cx="1388605" cy="253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97DC6757-B2A4-95E4-9A3A-CB330D4FFBD8}"/>
              </a:ext>
            </a:extLst>
          </p:cNvPr>
          <p:cNvSpPr/>
          <p:nvPr/>
        </p:nvSpPr>
        <p:spPr>
          <a:xfrm rot="13542594">
            <a:off x="8866872" y="6256947"/>
            <a:ext cx="777164" cy="235409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23315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9B4F-7E39-5E16-250D-FAD625E2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3A82BB-7359-6282-FD83-FC123022E9C9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>
            <a:extLst>
              <a:ext uri="{FF2B5EF4-FFF2-40B4-BE49-F238E27FC236}">
                <a16:creationId xmlns:a16="http://schemas.microsoft.com/office/drawing/2014/main" id="{CFE6FC58-A598-201B-4E27-1C47C990A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94C43D7-DCD9-AC3B-8A92-8A6D23DA8CF5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5A76895-55D0-B177-BB84-7E49B39167FE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037B8E-F5DB-89FB-0138-31C48254031F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Edit Employee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378ED70-DEB9-3F24-6E9D-5FA1940FBD96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Editing employee details (Email).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8DA3F5B-F8A0-B6C1-88FB-51E27E11B4E0}"/>
              </a:ext>
            </a:extLst>
          </p:cNvPr>
          <p:cNvGrpSpPr/>
          <p:nvPr/>
        </p:nvGrpSpPr>
        <p:grpSpPr>
          <a:xfrm>
            <a:off x="1504937" y="1956816"/>
            <a:ext cx="8877325" cy="4187951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8D067E26-471A-6CB3-9A8C-C4E535FDF171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FFAD2E67-902A-659D-E1F8-34C72ED94EFD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A11150BA-16B1-6C8C-65B2-11B404B9B2BC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EE93D2DD-0DEE-6EE1-03DB-3AB6AF0EF1DE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4892CBD0-2E97-FF1B-717B-126EC1CC6FE3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3AE1A6EA-C8FF-9979-C6AB-D5C8FBB96714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42E9BE0B-6B32-DC44-F8BD-46EFF0CA3272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63CFA567-D16B-74A7-C658-491BDC7BC9B0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F46E47A0-6493-FD35-3768-365F6D79E88D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C2B6502-68F1-BEE8-C7D3-954B0054343F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D4749D7-6DD6-47CA-330C-A0C86748D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339076"/>
            <a:ext cx="8873502" cy="3852968"/>
          </a:xfrm>
          <a:prstGeom prst="rect">
            <a:avLst/>
          </a:prstGeom>
        </p:spPr>
      </p:pic>
      <p:sp>
        <p:nvSpPr>
          <p:cNvPr id="21" name="Right Arrow 20">
            <a:extLst>
              <a:ext uri="{FF2B5EF4-FFF2-40B4-BE49-F238E27FC236}">
                <a16:creationId xmlns:a16="http://schemas.microsoft.com/office/drawing/2014/main" id="{CE7640DB-7D96-0A0E-65E3-E85850D6D1F0}"/>
              </a:ext>
            </a:extLst>
          </p:cNvPr>
          <p:cNvSpPr/>
          <p:nvPr/>
        </p:nvSpPr>
        <p:spPr>
          <a:xfrm>
            <a:off x="995370" y="3759254"/>
            <a:ext cx="1388605" cy="253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887815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62C55-E91C-3690-33A7-548E0A20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2EC2AD-7D3F-D49B-C454-125C810E5B52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2FF397C-2C8C-8A3A-25C9-132446FA1F53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C3A2833-6456-8ECC-E5C6-3C1A721EB21B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599C7F4-9D75-3D86-77AF-5152B014246C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Edit Employee Confirmation 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05A1445-D2AE-55BD-3AE0-92309ADB14D3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Entering password to save changes.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E84A7B4-281E-446C-C469-47B91C33F2BE}"/>
              </a:ext>
            </a:extLst>
          </p:cNvPr>
          <p:cNvGrpSpPr/>
          <p:nvPr/>
        </p:nvGrpSpPr>
        <p:grpSpPr>
          <a:xfrm>
            <a:off x="1504937" y="1956816"/>
            <a:ext cx="8877325" cy="4187951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1F7E430-F6C8-242C-1743-BB28E55E48CD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AF623BED-A791-12C4-6224-6E97482214EB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BBE696D6-6947-D4E5-7F9A-7599591FA063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FC7EE38C-5D82-436A-880D-9E02D9742563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EDBC6AD8-60B9-825B-245D-8051A7CE41A1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477D7725-CD58-1E27-AF0A-B25B0225F953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5C0FD0A0-B24A-D952-F182-85946F2CF11B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7BCA712A-569D-94F3-03BB-9E69072D02F0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AFF3951F-FD91-AA1F-80E5-9DE2DC9B209D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E6959B2-BE85-E339-A632-CDC5E530185B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76EE39-1108-2DA8-5507-D76BE7499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350151"/>
            <a:ext cx="8873502" cy="3883131"/>
          </a:xfrm>
          <a:prstGeom prst="rect">
            <a:avLst/>
          </a:prstGeom>
        </p:spPr>
      </p:pic>
      <p:pic>
        <p:nvPicPr>
          <p:cNvPr id="22" name="Image 0" descr="/tmp/report_work/pptx_assets/week3.png">
            <a:extLst>
              <a:ext uri="{FF2B5EF4-FFF2-40B4-BE49-F238E27FC236}">
                <a16:creationId xmlns:a16="http://schemas.microsoft.com/office/drawing/2014/main" id="{E69E075D-15D3-6FA3-CC01-B97F7663E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72084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2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23AD-BB9C-3E56-80AD-293C6126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4E9478-B2E6-F3D4-196F-6294DD5E688B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1ED8BC4-FB3F-375F-9F46-B9C384124A4E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DB5D56E-0E87-5A11-4D41-67B5B5024B9C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69DC8D3-A9C2-5A43-A2DA-C0F99E6FBA3B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Mailing List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B1A543E-C5F4-B66A-336A-92407B15F49B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Changes to Email were saved.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AC457C-0010-0FDC-D76D-9B7CC2B772C7}"/>
              </a:ext>
            </a:extLst>
          </p:cNvPr>
          <p:cNvGrpSpPr/>
          <p:nvPr/>
        </p:nvGrpSpPr>
        <p:grpSpPr>
          <a:xfrm>
            <a:off x="1886542" y="1956816"/>
            <a:ext cx="7714512" cy="4187951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DBCE6D0E-3B9A-F8F5-D381-2C0768E4F5FF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A24A2225-3BD0-072F-27C1-102E20787446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D091A076-9423-2CDA-8DB7-DD1FF27A7E37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A061F4FB-D31D-0E33-A533-EDA5FC594C81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E501586E-8EA0-1172-344A-47273D4B689E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D757E12E-DC5C-8793-D603-BFF17E405306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FF5FB807-9319-7108-4870-BF8E228EBD47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3284DC21-B71E-4635-86CF-2E9D4A7C70CF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4E701C9B-B22B-DC76-0B5B-DB31DFD8B7E7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1EAFF53-6441-8E75-8978-DFE79F936CA3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22" name="Image 0" descr="/tmp/report_work/pptx_assets/week3.png">
            <a:extLst>
              <a:ext uri="{FF2B5EF4-FFF2-40B4-BE49-F238E27FC236}">
                <a16:creationId xmlns:a16="http://schemas.microsoft.com/office/drawing/2014/main" id="{D2E309F9-FE25-B37C-52C4-3246E8332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72084"/>
            <a:ext cx="548640" cy="548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DEABBB-7E65-8281-B4BC-407795100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542" y="2288075"/>
            <a:ext cx="7714512" cy="3856691"/>
          </a:xfrm>
          <a:prstGeom prst="rect">
            <a:avLst/>
          </a:prstGeom>
        </p:spPr>
      </p:pic>
      <p:sp>
        <p:nvSpPr>
          <p:cNvPr id="20" name="Right Arrow 19">
            <a:extLst>
              <a:ext uri="{FF2B5EF4-FFF2-40B4-BE49-F238E27FC236}">
                <a16:creationId xmlns:a16="http://schemas.microsoft.com/office/drawing/2014/main" id="{9FF24052-ED6E-B04C-45AD-96369C7AF266}"/>
              </a:ext>
            </a:extLst>
          </p:cNvPr>
          <p:cNvSpPr/>
          <p:nvPr/>
        </p:nvSpPr>
        <p:spPr>
          <a:xfrm rot="20688437">
            <a:off x="4637432" y="6173269"/>
            <a:ext cx="1388605" cy="253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356465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16F85-633D-CA3F-A82E-F5EEC0F9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600322-4957-55E3-ED8B-A7B1366035EE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>
            <a:extLst>
              <a:ext uri="{FF2B5EF4-FFF2-40B4-BE49-F238E27FC236}">
                <a16:creationId xmlns:a16="http://schemas.microsoft.com/office/drawing/2014/main" id="{E4E41E72-F285-8508-E982-69E100EFC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E060CB1-ABBC-DC1C-2C8C-A6CA2BADE9FA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FE7FFD2-0B99-7120-C5D4-F0E2AEA2034E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B07FE0-6E67-B85E-FD15-100C1BCBDAB4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List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563C428-7B69-EEB6-E40A-EE039D9A1B1E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Deleting employee from the system.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D626D0-4AA9-E704-E7E2-C0B4438AD8E1}"/>
              </a:ext>
            </a:extLst>
          </p:cNvPr>
          <p:cNvGrpSpPr/>
          <p:nvPr/>
        </p:nvGrpSpPr>
        <p:grpSpPr>
          <a:xfrm>
            <a:off x="1504937" y="1956816"/>
            <a:ext cx="8877325" cy="4187951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91C003FF-F2C5-3852-ABC7-E2989F37D32B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AF9C6222-41F4-3CD0-4D9C-0D829FCF199D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C9B70D40-EE0C-ECA2-F1F8-AC6EF8E09CE8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B2C1379D-372C-9C6B-7C9E-9A32F13090E5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97590399-8AC6-9BAA-5EF4-3132089A6C8D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7F483AF0-0503-AC29-872C-720F30B600DE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88CBC2A3-C98F-03EF-E9F1-693951F51AEB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97F94585-7E45-0042-5B75-025F89F8B469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B7A85915-BC0A-3531-1CE5-07B134158169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16BD221-9691-2F26-D633-C47FA939DE63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8B81A8-F172-C164-A685-304E974CE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343603"/>
            <a:ext cx="8873502" cy="3901213"/>
          </a:xfrm>
          <a:prstGeom prst="rect">
            <a:avLst/>
          </a:prstGeom>
        </p:spPr>
      </p:pic>
      <p:sp>
        <p:nvSpPr>
          <p:cNvPr id="21" name="Right Arrow 20">
            <a:extLst>
              <a:ext uri="{FF2B5EF4-FFF2-40B4-BE49-F238E27FC236}">
                <a16:creationId xmlns:a16="http://schemas.microsoft.com/office/drawing/2014/main" id="{25DF7D4F-2CD9-D652-9886-56CADC36EE57}"/>
              </a:ext>
            </a:extLst>
          </p:cNvPr>
          <p:cNvSpPr/>
          <p:nvPr/>
        </p:nvSpPr>
        <p:spPr>
          <a:xfrm rot="19560476">
            <a:off x="8486165" y="6280730"/>
            <a:ext cx="967983" cy="253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690740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1B71F-F252-EC8E-7536-8E409CBB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F2ADB9-3356-E94B-052F-1AB13861C02B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3.png">
            <a:extLst>
              <a:ext uri="{FF2B5EF4-FFF2-40B4-BE49-F238E27FC236}">
                <a16:creationId xmlns:a16="http://schemas.microsoft.com/office/drawing/2014/main" id="{FEA6E594-9CB5-437C-CD22-464A5EB82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113551E-64DF-7E92-A954-BA344F9BF442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06E0A62-66D6-2CB9-06FF-950703678B9F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 (EFS)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23D3FB3-F8ED-0004-3EEE-D63EDA23340B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List (Delete Employee Pop-Up Window)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5B70534-EB89-FF73-7DDB-012B04D6D6F3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 and validation step before committing deletion.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A4F2A9-96EC-21A7-2BBB-C0D269D2A3EF}"/>
              </a:ext>
            </a:extLst>
          </p:cNvPr>
          <p:cNvGrpSpPr/>
          <p:nvPr/>
        </p:nvGrpSpPr>
        <p:grpSpPr>
          <a:xfrm>
            <a:off x="1936289" y="1956816"/>
            <a:ext cx="8014619" cy="4187951"/>
            <a:chOff x="822960" y="1965960"/>
            <a:chExt cx="10545775" cy="406908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938D1D64-57BA-C6BE-E69D-2DB5BD947FAA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7D6CE649-6668-B674-9F06-6077DEF7A7F9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F9CF36A3-69AC-7C32-001F-4ADB3E75BE21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66D4322C-8ACB-F146-5793-6975A70BE770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FC14AEEC-13A2-851F-6FEE-59A726612240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B7F4F5AB-05E1-BD86-97F9-E1DCA513B0E6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07D68CE0-36E0-894D-7365-9C55CB4B8CC3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618F122D-14B2-8A90-788E-080183CDD77A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3E1F3E9D-8C3D-FB42-9C8D-C5FD6ABC5874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5B4EBCC-3E56-EB98-8D35-B4B75FB7116A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EmployeeForm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8A20DA-67D6-FA52-D4BB-1AD41B781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289" y="2334533"/>
            <a:ext cx="8014619" cy="391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75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9601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— Database Design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05740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– 6 August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74066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65836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Documented AVS scenario and business rules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Normalized schema through 1NF → 3NF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a 10-table schema in SQL Server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Wrote the first stored procedures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75320" y="2148840"/>
            <a:ext cx="3276295" cy="3794760"/>
          </a:xfrm>
          <a:prstGeom prst="roundRect">
            <a:avLst>
              <a:gd name="adj" fmla="val 3349"/>
            </a:avLst>
          </a:prstGeom>
          <a:solidFill>
            <a:srgbClr val="2E86C1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8275320" y="3383280"/>
            <a:ext cx="3276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458200" y="4389120"/>
            <a:ext cx="2910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normalized database tables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5 of 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9601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— Development &amp; Testing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05740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– 13 August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74066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65836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the application's remaining views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role-based login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Executed a full test case suite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Logged and resolved three defects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75320" y="2148840"/>
            <a:ext cx="3276295" cy="3794760"/>
          </a:xfrm>
          <a:prstGeom prst="roundRect">
            <a:avLst>
              <a:gd name="adj" fmla="val 3349"/>
            </a:avLst>
          </a:prstGeom>
          <a:solidFill>
            <a:srgbClr val="2E86C1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8275320" y="3383280"/>
            <a:ext cx="3276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458200" y="4389120"/>
            <a:ext cx="2910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 executed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6 of 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9601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EFS + AVS Integration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05740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– 20 August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74066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65836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Connected EFS and AVS through an API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Unified employee login through EFS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AVS's registration flow &amp; Admin role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6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Matched AVS's UI design across both systems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75320" y="2148840"/>
            <a:ext cx="3276295" cy="3794760"/>
          </a:xfrm>
          <a:prstGeom prst="roundRect">
            <a:avLst>
              <a:gd name="adj" fmla="val 3349"/>
            </a:avLst>
          </a:prstGeom>
          <a:solidFill>
            <a:srgbClr val="2E86C1"/>
          </a:solidFill>
          <a:ln/>
          <a:effectLst>
            <a:outerShdw blurRad="101600" dist="38100" dir="5400000" algn="bl" rotWithShape="0">
              <a:srgbClr val="1B2631">
                <a:alpha val="12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8275320" y="3383280"/>
            <a:ext cx="3276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458200" y="4389120"/>
            <a:ext cx="2910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systems merged into one platform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7 of 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 in as Admin.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EB28EB-2B9F-93A6-30A2-2B01E94A8778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21" name="Shape 5">
              <a:extLst>
                <a:ext uri="{FF2B5EF4-FFF2-40B4-BE49-F238E27FC236}">
                  <a16:creationId xmlns:a16="http://schemas.microsoft.com/office/drawing/2014/main" id="{4A93766F-DF23-BFF9-0A40-76A674F84122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22" name="Shape 6">
              <a:extLst>
                <a:ext uri="{FF2B5EF4-FFF2-40B4-BE49-F238E27FC236}">
                  <a16:creationId xmlns:a16="http://schemas.microsoft.com/office/drawing/2014/main" id="{AF655A9E-1496-2531-5434-3FB6E3568948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23" name="Shape 7">
              <a:extLst>
                <a:ext uri="{FF2B5EF4-FFF2-40B4-BE49-F238E27FC236}">
                  <a16:creationId xmlns:a16="http://schemas.microsoft.com/office/drawing/2014/main" id="{56343DC4-DBF3-9733-9AE1-875406C50D78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24" name="Shape 8">
              <a:extLst>
                <a:ext uri="{FF2B5EF4-FFF2-40B4-BE49-F238E27FC236}">
                  <a16:creationId xmlns:a16="http://schemas.microsoft.com/office/drawing/2014/main" id="{31BB35AA-3371-3762-E824-D1E961C92C39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25" name="Shape 9">
              <a:extLst>
                <a:ext uri="{FF2B5EF4-FFF2-40B4-BE49-F238E27FC236}">
                  <a16:creationId xmlns:a16="http://schemas.microsoft.com/office/drawing/2014/main" id="{E2566D7A-118F-A02D-259F-2B8EFE89FABA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26" name="Shape 10">
              <a:extLst>
                <a:ext uri="{FF2B5EF4-FFF2-40B4-BE49-F238E27FC236}">
                  <a16:creationId xmlns:a16="http://schemas.microsoft.com/office/drawing/2014/main" id="{F882FDD2-01C3-4311-4379-1319F033DA3C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7" name="Text 11">
              <a:extLst>
                <a:ext uri="{FF2B5EF4-FFF2-40B4-BE49-F238E27FC236}">
                  <a16:creationId xmlns:a16="http://schemas.microsoft.com/office/drawing/2014/main" id="{24211753-DA04-7596-6322-F92881FB0FEE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28" name="Shape 12">
              <a:extLst>
                <a:ext uri="{FF2B5EF4-FFF2-40B4-BE49-F238E27FC236}">
                  <a16:creationId xmlns:a16="http://schemas.microsoft.com/office/drawing/2014/main" id="{1E949098-805D-0D01-A8C2-304AA3718A42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9" name="Picture 28" descr="1-admin-login.PNG">
            <a:extLst>
              <a:ext uri="{FF2B5EF4-FFF2-40B4-BE49-F238E27FC236}">
                <a16:creationId xmlns:a16="http://schemas.microsoft.com/office/drawing/2014/main" id="{51AB0192-84C8-FF43-340E-17DD6C3BF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36716"/>
            <a:ext cx="7772400" cy="40503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22E38-7979-B3BF-9532-70607243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4E6C7D-C560-0C19-E0D0-5D19B48554D3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009D549C-F08C-054A-6663-4C6B1E4EF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6A73B6E-6654-81CE-BDF0-18C070453966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0DF0300-44B5-4562-428C-0C218D9379E8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64C4FA2-52E6-2739-89F0-5909BA6D8F7C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Portal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02A9CD6-D203-4DEE-E32B-500D044DB470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choose to login as Admin or Manager.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611D538-08DF-9E00-66D6-EDCD832654CE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754505C-01F0-5273-4A3C-30665DFEC053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534F0E-46A0-656A-FACC-66C0FE957719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2E9E3DAF-8948-79E9-17C0-5930AD66AFBB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EDE5EADF-6DE2-C81A-65AA-8D6164B47D25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55460E71-70D2-EFE9-E16C-462EF5AFE750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5A7BE8DA-26C5-DA48-9268-60C7754B9E55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A2459126-277E-96A1-0308-6466D8C26A68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E5AF2930-0C02-B3FD-1CFC-68228A33FEBA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2EA8C37F-EA08-4B73-D414-C99C9B04AD02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CAF83111-AF1A-D952-AB95-35D4BEC6FE4F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9" name="Picture 28" descr="2-choose-portal-admin.PNG">
            <a:extLst>
              <a:ext uri="{FF2B5EF4-FFF2-40B4-BE49-F238E27FC236}">
                <a16:creationId xmlns:a16="http://schemas.microsoft.com/office/drawing/2014/main" id="{94D8ED91-A3A4-7342-63B3-D479E4E51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5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15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56CBC-637D-1D4A-7DC4-A81E78FE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BC6509-22A4-10D2-E0BF-0CAD249E659F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BD8D815C-7C5F-07E9-8E39-E76921998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7BE4D13-630D-9468-0A1F-6D3789CD8797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6D0989D-D005-3BEC-B4FB-6317F5F42958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7E8116-0647-BD48-A1AD-FD56255D5CEB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2440A0B-67C8-0550-9FAB-47774E9877D1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new employee hosts and site visiting managers from existing employees in EFS.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36699F5-09ED-3A82-7145-083805E412FE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7687BB9-A32A-04F6-6790-12DF9FCBEBE4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E984CE6-DFFF-6046-2BB7-DDC869238C20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5DDCE342-617D-C967-CB44-96B02C5DFEBC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210E87EC-439B-7389-EAD6-775B02CCC60E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252DD1EC-A161-4352-A5E7-542B2D38478F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F875B6B4-FAD7-A952-DB63-BC8480F24315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92B6773F-8B65-98CB-F8BC-918BD05FA95F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1C172B60-DFF6-C376-20F4-B8632AF711E5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1159CFE4-3F88-C215-7343-3AC60E84B92E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9D14911F-DB25-3B1D-8B3A-C5F1884E18C5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3-admin-dashboard.PNG">
            <a:extLst>
              <a:ext uri="{FF2B5EF4-FFF2-40B4-BE49-F238E27FC236}">
                <a16:creationId xmlns:a16="http://schemas.microsoft.com/office/drawing/2014/main" id="{AF94DB28-A063-CF2F-0FEF-4597E3404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87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A0930-3916-3863-D9CA-53E3E470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F38DF3-6020-CEDB-7514-32A596F3122B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68189B2A-8A65-847C-46B4-2E6B2AD16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A5E9F21-7F60-F226-D029-05F57C251CFC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D5F11A2-7F48-B8B6-831F-3E355DFA4AD3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6DB820C-234E-F90F-A433-B6963E83960C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Employee Host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5CA4F03-9C78-158D-821F-9376D8503176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new employee host to system. Look up from EFS helps fill in username and link new employee host user to their employee record.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CD49CBB-30B3-9A29-E27A-4724FFFC9735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5B3CD9F-F1CA-9E7F-7134-4DFE98A3971C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0105F8-1347-480A-3A53-AAC7CC74C431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5A3100ED-6A34-DC7B-BD2A-D1A3901335ED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0E8E6169-5B2F-E17E-8C83-25244009EBE1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770C1AAB-90DC-245C-1A6B-3806633DAEF7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5E9A9C2E-6E0C-763A-CBA4-8BDFA259B479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AA791345-4D26-CD67-EE46-439485FF5BC7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7C5D26F2-A5A7-7212-C725-A3EB89222E15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C725A0F7-A774-47C0-1345-DFA2C2730499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3A4F64C1-79CB-DE2B-0E5F-C4035BFF24A4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4-register-employee-host.PNG">
            <a:extLst>
              <a:ext uri="{FF2B5EF4-FFF2-40B4-BE49-F238E27FC236}">
                <a16:creationId xmlns:a16="http://schemas.microsoft.com/office/drawing/2014/main" id="{A3B30763-270B-CCE0-73F2-D2F924CDA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5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94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0CA43-5997-C77E-8ED5-ECA8C3D5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58FD01-36B8-9D04-4294-D114BBF91630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827E70B9-EBFF-CBEB-EB74-CCC86D8D2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8660474-DA16-1715-EA08-16C4519E55EE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2470C43-FFEF-B3F9-4084-47D5EE2ADB3C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A6BBAF6-532F-1B58-B7D0-DF0798CB0692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(register Employee Host complete)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37B1182-A1B5-FD77-E8E5-BBF0DEA936CD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added employee host message.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1795081-3BD1-2D55-393F-173C3376FC21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DF06B4B-197D-1689-614A-678449100705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213D78-F556-9A01-CC87-709869156841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BAD90426-B913-2078-A0AA-0D94E7D28399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3AAECFA2-2745-67F5-5F65-9E0C73461964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4C1D76F3-39F7-E201-5821-AD27A1521E1A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BC15E161-A7D7-4BBE-3415-3466A973FC36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1CBB8F0C-2089-DE30-FF5F-877C8ED9FE43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E3EC8A2B-8293-11DF-10CB-4A580071A8BA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4640508D-4BA6-A356-7071-FAB9F8BFD6A4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3B373B80-FBEF-E7F3-698A-80E947F97D7E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5-employee-register-complete.PNG">
            <a:extLst>
              <a:ext uri="{FF2B5EF4-FFF2-40B4-BE49-F238E27FC236}">
                <a16:creationId xmlns:a16="http://schemas.microsoft.com/office/drawing/2014/main" id="{2DFA1F15-0E58-B03C-B0B2-A741302B9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35276"/>
            <a:ext cx="7772400" cy="403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72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1E1D-E88F-3185-8B14-09B710453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076346-839A-E857-47FD-3419C7C8737E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BB44B452-451D-F80B-47FB-371434811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4FE7D28-5E22-1CA9-4F95-257F2869FB2D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0ECAFBB-C2B4-AFA6-B30A-4AFC70AA2407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E41279-CE00-2A27-91DC-2B9F69969B4F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Portal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DF8FC5D-F4F6-E48F-F066-0B0D1401649E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Switching to Manager portal.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926D3F4-E6A5-B066-F3CD-80575F0D23C0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95F1717-C884-ED85-3FC1-9E5F01D9C295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B1ECAE2-8FFC-99DB-E1B9-0BAF681EC2E1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E8C6B1D8-C706-7CAA-A4A7-42D337A5217C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2EE0C336-EB0D-5683-6C23-723F756EBA85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532FE657-445D-20E0-2EB6-3E87B7427396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7A84E9D0-17E5-A356-7350-602283213C0B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5C8948D8-88B4-EE21-3023-47E877150F55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E955E5EE-AE5F-87EA-CDFE-833B87A743E0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3BCB904A-402B-300D-8BC7-733566B5BFF4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B0768D6B-1709-F3DA-C876-383B29E5D199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2-choose-portal-admin.PNG">
            <a:extLst>
              <a:ext uri="{FF2B5EF4-FFF2-40B4-BE49-F238E27FC236}">
                <a16:creationId xmlns:a16="http://schemas.microsoft.com/office/drawing/2014/main" id="{6FFD2523-4996-C178-5777-E1C9D2DC4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5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A73F-5D85-91B1-9F7B-000C8DFB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2E7559-1B29-9CA0-F9E7-8C040D15789F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9CB6B898-7FCE-4E6E-DD25-3B3C6389E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C054D90-C66C-2378-BEC9-A073018B70AC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9C61D22-184D-9C24-D9AC-5CF6A8725D10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1FE00CC-2FB2-742B-DA8E-EA350D8AC6BF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EC66625-02EE-7406-EBD6-1F60E522CEE8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 in as employee host.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A5E6443-A6CB-9BAB-6AAD-BDC762B73D54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C2A24A2-FE4C-D3D9-1ED4-E18D8FE04A65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B4D628-8029-8597-4DFC-0B17125B0536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561D1B2A-286C-060A-D0DF-3FD041D7D7D7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3C12708D-44F1-D428-06CB-FCA832C40334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86E175FA-1FA7-DDB0-92D4-5D6DB303F46E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229E021D-B398-46A2-952E-D975B232CFF0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3CDA56C9-D2F6-AB49-0FB1-C6B281022051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B31C84A1-4592-63D5-E965-EA8589B6BE1A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A5652519-74A7-BC52-F2A8-9BB5C4E2159E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4AD86683-D977-807C-5556-56AA2702E50E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6-employeehost-login.PNG">
            <a:extLst>
              <a:ext uri="{FF2B5EF4-FFF2-40B4-BE49-F238E27FC236}">
                <a16:creationId xmlns:a16="http://schemas.microsoft.com/office/drawing/2014/main" id="{B97B4E69-5472-5F95-D9F3-21C246B07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33319"/>
            <a:ext cx="7772400" cy="404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84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5E81-212B-4137-5DAF-7FE387957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0C2CE3-630E-E7B5-CDCD-C5328831759E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7B362B09-9741-8280-1FFA-0003A5012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F52A81B-468B-EF25-8945-76670546391D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3C28A11-E6B3-50C2-2FC0-38C14BFF255C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7FAC5EA-042F-33A9-50A4-73924931E475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Host Home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12FD65B-00E4-7BBE-373A-89A54AF5409B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can view only their upcoming visits.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402F0A0-2503-D784-1DB9-646BDA76C0CE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936A53E-18DE-0F2C-BAF0-598678F665E0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E5E1C22-52D3-A4A1-0BA2-DCC15029C0D4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BE360DB6-3F43-6C71-2DE8-EBA322F44D43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46547AFF-16E8-CC21-CC12-E857CEC62718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DD05202-CA51-72B0-3BFF-4D4830AF9523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979E0814-CD99-6E52-3290-7E912D247326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55573F6B-0093-C2B4-BAF1-AE22F537AFB6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3A408744-B0B6-E952-E6E4-891FE25C4689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84B5081B-326C-D404-4108-C84F0ECA6A83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AC464974-0B10-9C22-64F4-F8BFC0188E4B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7-employeehost-dashboard.PNG">
            <a:extLst>
              <a:ext uri="{FF2B5EF4-FFF2-40B4-BE49-F238E27FC236}">
                <a16:creationId xmlns:a16="http://schemas.microsoft.com/office/drawing/2014/main" id="{F52CB9C7-48C9-3766-E57C-58836B4B8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6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0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4D2F-1A74-EC77-392D-F84F4EF74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3CB229-EB98-8E5A-5337-D14646FFB838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724FC351-3522-DCF9-3F87-E3D055316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D017503-C988-9FA2-A17E-3A49D3097384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9EA9B64-37F6-621F-1BC1-C844357A8FE3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49A70D9-2716-E3A6-7C3D-C543EEAC5C32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Visit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1D5B9D9-C74C-7792-359B-C72042C986D5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of entering Visit request details.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41C18B8-DDA5-C415-B7FE-B03A93060A4E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9C0A49F-4FB1-74FE-D2C0-30DA38A1B296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3A2CEC-0C8B-0B52-FE62-6D525EB1FBD7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CA806FD9-C636-CEB4-3ABE-761B34A80564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945A4FC5-674A-55FE-613C-35F050A68855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602638E8-0F27-4F82-7DD2-F4B5C7C968FB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B8D8B7D6-3599-313D-8CEE-DD3CD2EFC0B7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EFEC904C-06D2-EC97-0763-F3E4B924BF2A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168B434F-8A49-F6FC-21B0-600F068674C7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5CBF6249-E95F-472F-9313-C453A5B8042A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1FB38B12-C757-70F4-FEC4-687385A5949A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8-request-visit.PNG">
            <a:extLst>
              <a:ext uri="{FF2B5EF4-FFF2-40B4-BE49-F238E27FC236}">
                <a16:creationId xmlns:a16="http://schemas.microsoft.com/office/drawing/2014/main" id="{62549AD2-C083-A634-831A-04FC55ED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5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03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1FC2D-3623-BB27-0113-E465AFA7B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A6A279-EC2C-A97B-4C42-791102E4883D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4BF5970B-2A92-FC26-FEEA-6A093C20F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3B56CAA-40AB-8494-E492-249670C1D4AE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491A0E-5B82-486E-ECED-947713C42983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17B4323-A245-D77F-91C1-0DEA9863313F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Visit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453FE89-4C69-72B0-43E2-8D6504D17E41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of entering Visit request details.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B48F263-376E-9AE2-5310-A49703B5836F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3505F9F-1F1F-EB3B-B27B-93ABD9EABA54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F78F3F9-4184-4BA1-0B38-2120D9242B61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F4A18A87-9FD5-2313-5391-3452073990DF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E8BA6657-2286-0B09-99FE-A2CAC8F91585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F7673320-99EF-A406-9590-C19774A67014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787B4DE8-91DB-396A-2AB0-456401465E63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2F48A9EF-19E6-4C95-0630-1007705385FD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941413A4-70EB-8181-86A7-A4646131E464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F21F5892-6C1F-EE59-ABC2-A7507151A8A6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94E6A4B1-D136-1DA4-E564-FE497555FB9B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9-request-visit.PNG">
            <a:extLst>
              <a:ext uri="{FF2B5EF4-FFF2-40B4-BE49-F238E27FC236}">
                <a16:creationId xmlns:a16="http://schemas.microsoft.com/office/drawing/2014/main" id="{F6FAAE96-A08C-61EE-DC29-B6CB6C934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5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47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B693E-2398-2530-3DD3-777D4F0B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395099-B64D-FB84-3D5F-58BA9F97F791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C08753B1-19CE-3C1E-6468-CC6E5F358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672D0B0-CFE7-E2F3-21DA-75D5DA2FCA30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86AC908-15DF-7419-90FF-78973ADA6E8E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ECB09B5-FFA8-C5B0-391E-D850C3046F66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Visit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3A6E312-A313-635E-C325-C8B39FDD0E8E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of entering Visit request details.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8FB64B5-1CA6-B348-671A-A3D3C2407DBA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883CC36-C08F-0B1A-5900-DC4415326821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B6E1A6-13D1-B5E5-8937-28F8A54916AA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2DB6020-C67A-F92B-97F3-50FDDED0B0C5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940DEDC9-9BA1-E371-2B29-19755AF11295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F14D5800-8DEA-5A60-FCA0-808A2DD93B9E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4BF08592-CE16-7DF8-4494-0FB19E965BAB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029B0FBB-5210-E936-6B57-D089A3721754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E94D6BA3-F084-B8DF-3017-D8568C4CA33E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F93530A6-D9BB-72AA-9992-080D6F52107A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D9477718-0907-14D5-9468-5CF6E345B256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10-request-visit.PNG">
            <a:extLst>
              <a:ext uri="{FF2B5EF4-FFF2-40B4-BE49-F238E27FC236}">
                <a16:creationId xmlns:a16="http://schemas.microsoft.com/office/drawing/2014/main" id="{9C77169D-40BD-4035-D55F-3F1A4ABF3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4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70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1A02-7C7E-466A-12EE-135BAB24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71858B-F658-3F93-DA12-53D568F9B16F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19425730-D2FC-CF8C-3F52-1A60C865B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E705D9C-5C78-8E2B-0164-CFA75F1E47BD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67EB15-F614-9DC2-FCF9-AC2FD3B08448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A7E8696-6743-49F9-9242-64EE6E1B4389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Visit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42ADD0F-E8BA-D034-CFF2-7C9EAAFE3A1D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 of entering Visit request details.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EC426AB-1D4B-2871-B5EF-344C0AEC3CE1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DB31D47-1139-1AA1-10D7-2382157FCB8B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10E413-3628-701D-11E4-03408709AD63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CF939615-CBA9-BA2C-21DA-966F692BFBFC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E53FA927-44CC-DC06-3151-B23E83F6A102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22D417AE-02EE-450D-C2CA-C7058DCEB27F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2225E225-EC87-8ADC-44B7-6465313B8340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CA694A82-9D5B-CDB2-AD00-F5F70C06DBA2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012407D5-482F-692D-7940-52C82A0D9272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60E3EDDB-90F8-4F7E-74CE-500533C89D88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9DFD7FB6-5A10-BC19-B145-C01EFADC584E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11-request-visit.PNG">
            <a:extLst>
              <a:ext uri="{FF2B5EF4-FFF2-40B4-BE49-F238E27FC236}">
                <a16:creationId xmlns:a16="http://schemas.microsoft.com/office/drawing/2014/main" id="{F91A2E00-AA1A-F2F4-BEDB-AC32D8A54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3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15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C4535-E589-FFF4-0543-EBFDBA9E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C443E8-7A99-CEAA-14A1-099939FBCA5D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B15D2F71-7572-15E8-D599-759FAB89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98085DA-3CCC-7A53-92EF-B8223FF255B1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C0AC983-6402-480F-B4B1-1F965343C903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D9FDABC-F8F5-F721-BE1D-3D2E53CA020B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Visits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E16F860-B72C-CDE2-B99C-90AC5E413E22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Visit request complete.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DB5EB86-34AF-7FA9-DB30-6A08BD1A6DB5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96BA29D-08CC-8D6A-E6A7-E23478E24749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AC40C13-89B6-256F-16E8-1E6A2BAF1DC7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12FF4327-3681-4B4C-9237-BC776F12FEDE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F20F92C4-CADB-C140-FFFB-072EB5573A21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1996F41-5BFB-A552-6F5A-64447D387CD1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6C87C0CA-1BE1-A4A0-2568-4BD59EFF7DAA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087A0A1F-28F8-8546-E52D-316F713331F2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0D3A59C7-B691-536F-88BB-DFD4829036E9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4E5681E6-8990-0CF4-A71A-26CBAF81E2AD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6B551543-A519-1269-FB60-6D28377C21E1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12-request-visit-complete.PNG">
            <a:extLst>
              <a:ext uri="{FF2B5EF4-FFF2-40B4-BE49-F238E27FC236}">
                <a16:creationId xmlns:a16="http://schemas.microsoft.com/office/drawing/2014/main" id="{EFE47F85-A887-0907-BCDE-FAE61B0E1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35141"/>
            <a:ext cx="7772400" cy="403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20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C00E-42CE-FCDB-3C9B-CD02AB4B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45A15F-D4B0-3983-2E1A-9B1C8B62AAE9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C9E12513-E28B-7BD8-1985-C644A2699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95B1162-5BE6-D7FA-2A6D-6D678C9B679F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4CE6107-46B0-AA43-44C9-3A9376C573EC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3EFD251-FFE8-C7D8-5D14-FE77567AD694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Host Home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A47A717-CD2C-00E8-AED7-C87B96CB9F9E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Check-in todays visit.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51C63B6-B4DC-B13B-0F8D-ACFCCEF48E0F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C27C159-FEDE-2EF2-8441-D36F331B9877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7FA720-5AB7-CACA-84DF-57692F78C0C9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78F596D7-EC3E-67E5-7E1B-DA1296F51204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A3FC541D-5862-21C3-CFBD-0FC1A50F3C85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C2BEE721-461C-9B4E-3BF5-EB968208CAE5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2337B73A-30B6-F19C-0EB0-C12F7BFC5AAA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8C4DF4AE-EF40-AF36-1260-F086684DCE74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11393170-75A7-6FF0-C580-23269BD781D7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9AF97846-C720-607E-AE58-432EB944EB85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B4DF4B97-6918-557D-0C3F-F5EF2460331A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13-checkin-visit.PNG">
            <a:extLst>
              <a:ext uri="{FF2B5EF4-FFF2-40B4-BE49-F238E27FC236}">
                <a16:creationId xmlns:a16="http://schemas.microsoft.com/office/drawing/2014/main" id="{F93B56D1-670B-2B6C-A46C-77516583D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71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29111-15A7-D249-03A0-B6F32E3C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C0BB81-DFE3-F773-810F-2692E19A06CA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59EE1427-EAF6-F29B-BF92-C6C266F2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6260B9E-BE56-FA3B-5DC3-B8C8FCB391C2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7F497B1-44BF-60AD-6F38-B0B2CEDB8E3A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001F995-7853-3615-1A99-B9373949E8BB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In 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B8AC4F6-3013-DB4D-FEE2-C1FF7887F2B6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Confirming visitor check in.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7DFC1C5-FCD6-E849-CF8E-34C1C02D04B4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D553573-5503-3AC8-B173-5B117DF50B20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BF27E38-51A3-1110-AAB2-BD52CEF7C758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1D5CB67D-A5FF-5908-FDEA-DFC5D90D1375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FFD2052B-7451-2A50-52A9-0AC3A75BA834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0F6B7EFE-0484-4E68-2D36-D0AF278A089C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4C5CF386-0917-A96B-55D9-9BDAF61D7001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1E1813C0-DD8B-3125-B8DB-A47AD9A3B6F5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19B380D7-ABB1-0B97-0CB8-2FCACDC46A17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1EE5DB90-5D98-8E28-C5DF-50AB9FD5D5FC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AF5F1DE3-4E1B-F2B3-7372-14BA6B0240FF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14-checin-confirmation.PNG">
            <a:extLst>
              <a:ext uri="{FF2B5EF4-FFF2-40B4-BE49-F238E27FC236}">
                <a16:creationId xmlns:a16="http://schemas.microsoft.com/office/drawing/2014/main" id="{45362567-B592-2925-B987-E61F5BFDA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17926"/>
            <a:ext cx="7772400" cy="403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99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FC8F6-1664-DC0D-2C65-AA922DED0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287D16-02DF-5638-3F3A-C1CCF886524E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65BC7E1E-8EE6-F3B7-D144-BBB2F5FA4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EBF7807-B00B-8859-DD49-2DA0A980AF00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6EEFB87-54FC-89D7-109C-492A92C165D7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0249122-2654-2836-D1B4-E58A78E76329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Host Home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F5A27E0-0D81-51CA-300F-33B630A20218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out visitor after visit is complete.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1BEE986-33F2-FA8F-7655-80153B43382F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BB9AE1B-A89D-42EA-B364-0F5288A2D8E8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247077-7B72-4AFE-B2C7-3C178486B16C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37140803-8670-F22F-8C89-333AA6258AE1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5F83D98E-255C-F663-895E-9E97227EE773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C395A8A3-3173-F941-04DE-D763C1ED493B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946E0490-1475-D89E-A513-13589956CC09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4DDF4205-0FEE-F114-1A23-346B18DFFFAA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B6A8D794-81D6-BF30-BED7-E4A5519AB572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32782EF8-9C28-EF67-3218-4B12FE6D9958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DAC154A9-2A1B-B4E8-DC52-AF758D47CD99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15-checkout.PNG">
            <a:extLst>
              <a:ext uri="{FF2B5EF4-FFF2-40B4-BE49-F238E27FC236}">
                <a16:creationId xmlns:a16="http://schemas.microsoft.com/office/drawing/2014/main" id="{ABD96446-F912-9465-1141-3F1FD4293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2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14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59106-B031-6413-09B7-6C09380C9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3D7463-FD4C-0BFD-FE3F-FFBAD0B46008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706CA042-0F4E-37DB-5B1E-48702FEED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576AF43-4108-D372-0B0F-D5D7FCA7563A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A48BE17-5A65-6BE2-7671-1EDE9BF7B60A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6C0E0D5-C220-3ADF-0D94-B8DC796917F6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Out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D9FCFCF-A25E-CF03-85C4-2F4D48112F0A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Confirming visitor check out.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27E79AC-C6BC-3712-3141-D9C373B54A75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730636A-4129-47FE-5F53-DAFDB0571E1D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A3BEE15-701C-121E-4E80-9667B0E262BA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AD5423A3-0421-8962-5D6E-883F780F404B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E9D981BA-BCB3-E006-FAE8-F284E7E08E03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DDFC4FF1-CB47-4D56-79D8-E12B75A9B26A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FE9A814C-0A94-FE45-6CB4-D8C35107BDA2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EC304381-B5D4-7C43-C168-FAC0A470217C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206C82CE-CCB9-5B98-130D-5C8B99F30F84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CE3CFA2D-1EE0-E6B1-5C35-684D4C378118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E7A5B565-26A0-DAB3-408B-AFE7CF164A49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16-checkout-confirm.PNG">
            <a:extLst>
              <a:ext uri="{FF2B5EF4-FFF2-40B4-BE49-F238E27FC236}">
                <a16:creationId xmlns:a16="http://schemas.microsoft.com/office/drawing/2014/main" id="{380FFAB2-4E11-4BDA-18B3-77F91E54D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17653"/>
            <a:ext cx="7772400" cy="40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932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D14D-15FC-26EF-4D5B-D0895EA0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098E72-7589-633F-2C25-D310DC351663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B0850999-7D36-FB78-E583-29DCC5539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2699C32-010C-5636-8849-29D298521C99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FCE43B5-2DED-4685-D243-F2BC25540F0B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E7136F7-3954-630E-ECB7-E81DBA6C3371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Visits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20BF672-BFD1-BD34-9504-9EA264F2422E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visit status changed to ‘Complete’.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B26DD37-5DB8-9ABC-C9CF-C675D1275D98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4CE89FA-0AF9-14D4-65F5-B25C2470B44B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E966FD7-0DBD-1ED9-838A-0136C0EB768C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CF0C7593-084D-B560-8BEC-E081F378FFC5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D7AE8C24-E59F-26E2-E568-DD670796E15E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2B6479F8-CD19-F7EF-CAF5-DDF743990D41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E6C85047-95F0-00A7-0514-C7F398B9969C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F6251C39-159F-77F3-3C09-0C493E6E9E5A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E8FD0B55-2B64-3BD7-CA8B-F34EF87550AE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4DE15E42-2DC4-9B6F-0E74-9E72C0610278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2F7EDB49-2905-F863-8B0E-BDE1FA81D66D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17-visit-complete.PNG">
            <a:extLst>
              <a:ext uri="{FF2B5EF4-FFF2-40B4-BE49-F238E27FC236}">
                <a16:creationId xmlns:a16="http://schemas.microsoft.com/office/drawing/2014/main" id="{ABD8441A-4DE7-B3B1-8135-29F5B7FEB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2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25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5C3E-F9B8-40FD-DF47-CF9DE184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C7B976-E764-97A2-CD0B-A1AC99E1353F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502AE0B1-4F59-3812-8236-B4E8F8590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FB357D2-15A4-FF7C-F47A-BBFDA01B6B66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3AA3092-48AD-D27B-56A8-6C4D43BDFF7C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BB382A9-7875-973B-CD89-BA4D41348FDF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Visit Details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6DFEA4-7D36-422F-F3AF-522CF2C37858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all Visit details.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3D2B320-0885-9B82-3295-3176236F869F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96339A1-D4A0-7053-E56A-1DBB504CAB84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DB3BF0-F5A3-EFB2-545D-F8615413924E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EB3F8357-A42E-42A0-5D38-9EBF64509C6E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9C1337CB-7906-8CAD-718A-1FDE99B84C01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29F06BE2-23C1-FAD4-E083-E50A712D9AE2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3E429CC9-FB3A-68C8-E788-8C414587F5E2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FD2CE1C0-083A-5AA3-005C-DA08269B1CAE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C5E2F79F-C9FF-F830-9E95-3D2BAFD7B952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0AD7DE52-0E37-EF1F-46E6-46284F555A6B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48A60EFD-A98C-3B65-1680-5B64971B6485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18-visit-details.PNG">
            <a:extLst>
              <a:ext uri="{FF2B5EF4-FFF2-40B4-BE49-F238E27FC236}">
                <a16:creationId xmlns:a16="http://schemas.microsoft.com/office/drawing/2014/main" id="{05A16B59-0734-7784-2557-8F2F404E4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34868"/>
            <a:ext cx="7772400" cy="40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429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7DA2-D071-2E74-0D22-82FF3B29C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8CB5B4-B752-28B0-7443-D662EBD605D5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78C53BF0-300F-E0E5-3A46-9DBB78EF3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530B94E-1BA4-E4EF-3003-48B0A5873CE8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2A389D3-EDB3-C707-7C45-856005C6AF9C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B189293-E2A0-E863-84A8-163D06F3C533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AF23BC6-5527-E7DF-985C-FAE963190B10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 in as Site Visiting Manager.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A54F7A4-28FB-AABE-9553-A3211686C377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F3B69C2-0D0D-1761-1C64-D0844DC8C701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04739A-0D8B-2F3C-66BE-84437EE02CE6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C94F1D96-89ED-29DB-8BB2-B2286ACBF4D6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E4E0F31E-FA09-DDCD-C0EF-CC9BE2C0456D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11B88AD7-B274-1C00-AC3F-B681F52F3D13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D6FE7434-8AAD-1EE5-14AC-2D23FA65A4FF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1CF4FD37-FD57-EDBB-6D29-3C500A109C5B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AF05B640-49ED-18C8-3083-07438B468C59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E25FCAD8-7090-2A37-895E-996B2379684C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BFA694E2-63A2-4DE5-8079-CEB0FFA0D075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19-manager-login.PNG">
            <a:extLst>
              <a:ext uri="{FF2B5EF4-FFF2-40B4-BE49-F238E27FC236}">
                <a16:creationId xmlns:a16="http://schemas.microsoft.com/office/drawing/2014/main" id="{41631E00-61A2-7FF0-24C8-1B3756AF0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26304"/>
            <a:ext cx="7772400" cy="405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710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BB9D2-DE32-8A39-A0D9-328DFD5C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3E6428-7538-5F4B-1FD6-EC7714CF03A0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DF546AD1-EA2F-13BB-C8CC-EF0A15385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5E65C52-A487-601B-1135-28C3C011EEC9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089C060-F4AE-E22F-46A9-AC88B76834A1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419BF2-DE04-D650-AEB1-F3642FC9AE62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Manager Home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D3C5340-ACBC-2934-1CD6-6482ABDD3666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Manager can view all upcoming visits.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902A355-B07B-1A56-89CE-CEFDFE83255D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AB16178-82E7-4A43-B68E-D3920D1FA69F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C33683-904D-226C-59C6-F20CA5F014ED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9CE9DCCE-F0D8-8D4A-7D1B-C88DAC0BCE96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A08A0814-74B9-F49C-6180-D627D2334EA8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06CA049E-30BC-A320-693B-3D0AA9D5A63C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50AC1C1A-18DB-4E73-FD7C-BE5BD002ACDB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7CA0AB90-34D0-F21B-0F25-D3C76CA1F570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71D7E209-C892-9C02-880D-4717EE3864F3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EF9C7E21-43BC-42B4-6C0C-7037CF0DDB62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5CF4AAEB-BBEE-F68B-2A20-EBCA27EFE2A0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20-manager-homepage.PNG">
            <a:extLst>
              <a:ext uri="{FF2B5EF4-FFF2-40B4-BE49-F238E27FC236}">
                <a16:creationId xmlns:a16="http://schemas.microsoft.com/office/drawing/2014/main" id="{E83FD4B6-2C63-ED5C-3B73-5C35A9CDB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29812"/>
            <a:ext cx="7772400" cy="404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109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59198-96EE-AB48-FD88-66A79F5C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2BCB00-AF2D-4948-768A-CF5958472406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C6236633-CCF6-BF89-2EE1-55E99A822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41709BF-7F24-2616-B988-7304E16F77B5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364DDBE-1298-FF5C-9DDE-53DDC0545F8F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F604B4-4460-38E9-1552-83B1568EAAC7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Approvals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1563BA-4767-836D-28D9-31363B8CCCBF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through pending visit requests to manage them.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9259A38-2F81-5683-6A1D-B10C966617D3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179CC1E-C2A9-17EB-4318-7BAC7ADB9EB2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246BF8-46CF-B9C7-5F6B-9E3120F63167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4EACA371-CFAA-859C-ED77-BAB1B185769E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222AA0DA-6580-E101-211E-C51E5AA6F86C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1BBFD842-869B-DF64-FA18-2F1670323038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D75F5F71-47D1-51A2-433C-FF44F66DE425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7DD0C7D6-2EA0-BE19-BEC3-FAEDB993D5B0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06F952A2-C6CD-7266-3EDE-454FC282467C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E7D6DA8C-6063-0F10-16C9-B03C3E27B6CA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52C7ECDA-3DAD-AA0E-CCCF-FAAD2DFB85F9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21-search-approvals.PNG">
            <a:extLst>
              <a:ext uri="{FF2B5EF4-FFF2-40B4-BE49-F238E27FC236}">
                <a16:creationId xmlns:a16="http://schemas.microsoft.com/office/drawing/2014/main" id="{5F0FA226-874B-3A45-614A-560C2DC56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31778"/>
            <a:ext cx="7772400" cy="40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173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5BB7C-3721-CBED-483A-760985A2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363851-24DF-987A-F474-6EC8C2A36E20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FB559723-3F26-BB40-116D-66272A183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CA1F88A-3C0E-4879-3D08-388F1220F0D3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F6A474E-748B-6873-9493-9BAD86310A0F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D9AA0B1-3DD8-5D6D-8679-E805FE988A39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Approvals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76F1E0B-0F1C-C4A8-B045-7B810E2BADFC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Approving all visitors at once and submitting.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CE9423C-C9EB-A26F-EEC7-7A75E448CFAF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C3486CA-F713-CDDD-9279-6262C912CD2C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5A25F4-22BA-7D8D-3146-9A89F856B942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453B0758-6C93-5306-8797-F53FEBE503B4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5C3BE1F8-18F3-708D-B353-A332010DFAF8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651D6AAE-8CA8-7F72-F996-11B490AC1754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315F327D-7AF9-0076-D56E-806C9E504649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E1773C56-6736-2629-3327-E712E49B2AA8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970DEB92-7660-13A9-1F8A-5BD4FE4FF2F4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225EFE72-CCE2-3706-B251-8B00B59BAD83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FD42A6BE-ABC9-4DB2-CEF0-3CD2A3D0120A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22-aprove-visit.PNG">
            <a:extLst>
              <a:ext uri="{FF2B5EF4-FFF2-40B4-BE49-F238E27FC236}">
                <a16:creationId xmlns:a16="http://schemas.microsoft.com/office/drawing/2014/main" id="{84794491-07CE-31AD-ECF1-FFF5DD2A3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6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057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A707-899A-10E6-5077-52CC27818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C15BF2-74F7-5F57-E726-23C4A2C8B296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D92AC137-A0B0-517F-08ED-F63F22019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0E3F1E2-1C21-C0B9-C57F-6A764A412F65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F113F9C-DF25-7A80-9490-5E978A132E32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6509538-477A-4737-1FED-77A528F0CEE2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Approvals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0DC7B29-7D88-AA30-3390-D838E9919794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through pending visit requests to manage them.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9C4293-0832-7321-4ED2-061BD1D4F894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F923B8D-6C32-55D5-1CC4-1F33D281F7C6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5A0FC1-D6B9-9A1E-ABB6-BB38F85A5F53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D6E7BC8C-67FF-326E-06F3-4B17DCACB7EC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E1C53A46-7249-FE20-76D8-0AA55B707763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6AD0EF53-1995-9B9C-E299-9D7ECB6889F6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BFD78B02-3354-57CB-792A-6685BE153B4C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8CF6E0E2-319C-2F6A-ADE2-3E9920522A89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EE70F999-E134-20D1-D5CF-BB3325041E46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66AC2019-04AE-C250-FF51-896936207423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98D87568-D8E0-0E93-7610-99CC96AAF2B6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23-search-approval.PNG">
            <a:extLst>
              <a:ext uri="{FF2B5EF4-FFF2-40B4-BE49-F238E27FC236}">
                <a16:creationId xmlns:a16="http://schemas.microsoft.com/office/drawing/2014/main" id="{9A98355F-4236-2692-BD47-3D1AC88B8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40207"/>
            <a:ext cx="7772400" cy="402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583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8C8CD-94A6-B643-9C5A-45924083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67B230-D31E-B844-61E8-CCDF264EF633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F5BAA905-9A94-8184-66F1-4E6EC1B9A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36E181E-5B4F-6437-4383-8E67EC04BE84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5092D17-28CD-776F-906E-A177E4ACA6BA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7F08787-EB7C-4753-5E3A-B809D8872666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Approvals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E53E1FC-93ED-33E3-B4F1-BD86B2A87018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Rejecting visit with all its visitors.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33DF625-6DB8-DD1A-F0B2-EAC01D9029E2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9A5DF8C-41BB-67E3-E4B4-B29AD97839A3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7C362E1-0DC3-08A7-887F-184CA329EC42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4E3EA90A-87B3-6E4C-C90A-5BB45C262BDF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41999BE0-29F8-6F28-FF61-DAFFB025494A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8CA8BC32-E78A-FB27-C549-0BF1EA9F0F6B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D7D470F4-4BCA-2A78-FE37-4AB2A9B43705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5BA019BC-BA44-8366-6288-58BDB35FDBED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CD0D0792-37CD-1E55-A9A4-CBA9F758121B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60B4DADD-F7EC-FEF5-84CA-7B0217CA17F0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4F155A08-EBC6-7606-2E74-842D293DB032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17" name="Picture 16" descr="24-reject-visit.PNG">
            <a:extLst>
              <a:ext uri="{FF2B5EF4-FFF2-40B4-BE49-F238E27FC236}">
                <a16:creationId xmlns:a16="http://schemas.microsoft.com/office/drawing/2014/main" id="{A9AE6D76-1314-BB53-BDE1-4AD0CEC8C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2083"/>
            <a:ext cx="7772400" cy="406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92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402A0-F548-A939-4431-5AD220E5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E63B61-742C-5E78-C18D-7171067F18DE}"/>
              </a:ext>
            </a:extLst>
          </p:cNvPr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/tmp/report_work/pptx_assets/week6.png">
            <a:extLst>
              <a:ext uri="{FF2B5EF4-FFF2-40B4-BE49-F238E27FC236}">
                <a16:creationId xmlns:a16="http://schemas.microsoft.com/office/drawing/2014/main" id="{D965EB5B-4CBE-F583-98DD-602D61F30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37DB5B4-3A58-E93D-3EFB-62833231057F}"/>
              </a:ext>
            </a:extLst>
          </p:cNvPr>
          <p:cNvSpPr/>
          <p:nvPr/>
        </p:nvSpPr>
        <p:spPr>
          <a:xfrm>
            <a:off x="1737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WALKTHROUGH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E79F506-5115-F039-0668-24B0854AC563}"/>
              </a:ext>
            </a:extLst>
          </p:cNvPr>
          <p:cNvSpPr/>
          <p:nvPr/>
        </p:nvSpPr>
        <p:spPr>
          <a:xfrm>
            <a:off x="173736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 Visit Management System (AVS + EFS Integration)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ECF93F2-60E4-FDB0-4D0E-FA5041FDE04F}"/>
              </a:ext>
            </a:extLst>
          </p:cNvPr>
          <p:cNvSpPr/>
          <p:nvPr/>
        </p:nvSpPr>
        <p:spPr>
          <a:xfrm>
            <a:off x="82296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Visits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5F35527-6221-D10E-0973-4D53F2AB49AF}"/>
              </a:ext>
            </a:extLst>
          </p:cNvPr>
          <p:cNvSpPr/>
          <p:nvPr/>
        </p:nvSpPr>
        <p:spPr>
          <a:xfrm>
            <a:off x="60350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in action: </a:t>
            </a:r>
            <a:r>
              <a:rPr lang="en-US" sz="1400" b="1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status of managed visits.</a:t>
            </a:r>
            <a:r>
              <a:rPr lang="en-US" sz="14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b="1" i="1" dirty="0">
              <a:solidFill>
                <a:srgbClr val="5D7A94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027394F-9C28-EC66-888D-71A826DCDCA9}"/>
              </a:ext>
            </a:extLst>
          </p:cNvPr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Tasheel Information Technology  • Training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2E3B417-4687-BD1F-515B-3C2F4D082DC6}"/>
              </a:ext>
            </a:extLst>
          </p:cNvPr>
          <p:cNvSpPr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7A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Airport</a:t>
            </a:r>
            <a:endParaRPr lang="en-US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E10196B-F8C3-B6B9-7654-779D165B8E58}"/>
              </a:ext>
            </a:extLst>
          </p:cNvPr>
          <p:cNvGrpSpPr/>
          <p:nvPr/>
        </p:nvGrpSpPr>
        <p:grpSpPr>
          <a:xfrm>
            <a:off x="2148840" y="1956816"/>
            <a:ext cx="7772400" cy="4187951"/>
            <a:chOff x="822960" y="1965960"/>
            <a:chExt cx="10545775" cy="40690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98164E6E-8C2C-4CAA-23B1-F002355CC9F2}"/>
                </a:ext>
              </a:extLst>
            </p:cNvPr>
            <p:cNvSpPr/>
            <p:nvPr/>
          </p:nvSpPr>
          <p:spPr>
            <a:xfrm>
              <a:off x="822960" y="1965960"/>
              <a:ext cx="10545775" cy="4069080"/>
            </a:xfrm>
            <a:prstGeom prst="roundRect">
              <a:avLst>
                <a:gd name="adj" fmla="val 1348"/>
              </a:avLst>
            </a:prstGeom>
            <a:solidFill>
              <a:srgbClr val="FFFFFF"/>
            </a:solidFill>
            <a:ln w="12700">
              <a:solidFill>
                <a:srgbClr val="D4E6F1"/>
              </a:solidFill>
              <a:prstDash val="solid"/>
            </a:ln>
            <a:effectLst>
              <a:outerShdw blurRad="101600" dist="38100" dir="5400000" algn="bl" rotWithShape="0">
                <a:srgbClr val="1B2631">
                  <a:alpha val="12000"/>
                </a:srgbClr>
              </a:outerShdw>
            </a:effectLst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4E3289C7-50F0-49C8-6333-0633E3ACDBBB}"/>
                </a:ext>
              </a:extLst>
            </p:cNvPr>
            <p:cNvSpPr/>
            <p:nvPr/>
          </p:nvSpPr>
          <p:spPr>
            <a:xfrm>
              <a:off x="822960" y="1965960"/>
              <a:ext cx="10545775" cy="384048"/>
            </a:xfrm>
            <a:prstGeom prst="rect">
              <a:avLst/>
            </a:prstGeom>
            <a:solidFill>
              <a:srgbClr val="DCEEFB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35476ADE-37FF-9851-2974-BC56930988C9}"/>
                </a:ext>
              </a:extLst>
            </p:cNvPr>
            <p:cNvSpPr/>
            <p:nvPr/>
          </p:nvSpPr>
          <p:spPr>
            <a:xfrm>
              <a:off x="987552" y="2103120"/>
              <a:ext cx="109728" cy="109728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C6DAF90D-C1F9-355C-4B29-72766A1706C5}"/>
                </a:ext>
              </a:extLst>
            </p:cNvPr>
            <p:cNvSpPr/>
            <p:nvPr/>
          </p:nvSpPr>
          <p:spPr>
            <a:xfrm>
              <a:off x="1188720" y="2103120"/>
              <a:ext cx="109728" cy="109728"/>
            </a:xfrm>
            <a:prstGeom prst="ellipse">
              <a:avLst/>
            </a:prstGeom>
            <a:solidFill>
              <a:srgbClr val="FFBD2E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E3231C43-5438-5E1E-69BA-96E9D1B8FB68}"/>
                </a:ext>
              </a:extLst>
            </p:cNvPr>
            <p:cNvSpPr/>
            <p:nvPr/>
          </p:nvSpPr>
          <p:spPr>
            <a:xfrm>
              <a:off x="1389888" y="2103120"/>
              <a:ext cx="109728" cy="109728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8A90155D-32A1-BF31-5C18-455BF6DBD173}"/>
                </a:ext>
              </a:extLst>
            </p:cNvPr>
            <p:cNvSpPr/>
            <p:nvPr/>
          </p:nvSpPr>
          <p:spPr>
            <a:xfrm>
              <a:off x="1691640" y="2039112"/>
              <a:ext cx="9357055" cy="237744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BFDCF0"/>
              </a:solidFill>
              <a:prstDash val="solid"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CE1A6C7F-40FA-7395-FD52-A386BFA83BE5}"/>
                </a:ext>
              </a:extLst>
            </p:cNvPr>
            <p:cNvSpPr/>
            <p:nvPr/>
          </p:nvSpPr>
          <p:spPr>
            <a:xfrm>
              <a:off x="1828800" y="2039112"/>
              <a:ext cx="908273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7A9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https://efs.tasheelinfotech.local/...</a:t>
              </a:r>
              <a:endParaRPr lang="en-US" sz="11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A51FAC1E-23F4-3DA9-D637-0F3C1121F8F1}"/>
                </a:ext>
              </a:extLst>
            </p:cNvPr>
            <p:cNvSpPr/>
            <p:nvPr/>
          </p:nvSpPr>
          <p:spPr>
            <a:xfrm>
              <a:off x="932688" y="2459736"/>
              <a:ext cx="10326319" cy="3465576"/>
            </a:xfrm>
            <a:prstGeom prst="rect">
              <a:avLst/>
            </a:prstGeom>
            <a:solidFill>
              <a:srgbClr val="F5FAFD"/>
            </a:solidFill>
            <a:ln w="15875">
              <a:solidFill>
                <a:srgbClr val="AED6F1"/>
              </a:solidFill>
              <a:prstDash val="dash"/>
            </a:ln>
          </p:spPr>
          <p:txBody>
            <a:bodyPr/>
            <a:lstStyle/>
            <a:p>
              <a:endParaRPr lang="en-SA"/>
            </a:p>
          </p:txBody>
        </p:sp>
      </p:grpSp>
      <p:pic>
        <p:nvPicPr>
          <p:cNvPr id="20" name="Picture 19" descr="26-visits-status.PNG">
            <a:extLst>
              <a:ext uri="{FF2B5EF4-FFF2-40B4-BE49-F238E27FC236}">
                <a16:creationId xmlns:a16="http://schemas.microsoft.com/office/drawing/2014/main" id="{ED549153-D9D3-C04F-67FB-32AE1C3D7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18198"/>
            <a:ext cx="7772400" cy="403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2513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43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2E86C1">
              <a:alpha val="28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AED6F1">
              <a:alpha val="20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" name="Shape 2"/>
          <p:cNvSpPr/>
          <p:nvPr/>
        </p:nvSpPr>
        <p:spPr>
          <a:xfrm>
            <a:off x="5318608" y="1188720"/>
            <a:ext cx="1554480" cy="155448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5" name="Image 0" descr="/tmp/report_work/pptx_assets/clo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936" y="1527048"/>
            <a:ext cx="877824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D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Aldana Ashraf Felemban  •  Tasheel Information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1951</Words>
  <Application>Microsoft Macintosh PowerPoint</Application>
  <PresentationFormat>Widescreen</PresentationFormat>
  <Paragraphs>405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ALDANA ASHRAF HUSSAIN FELEMBAN</cp:lastModifiedBy>
  <cp:revision>2</cp:revision>
  <dcterms:created xsi:type="dcterms:W3CDTF">2026-08-19T19:08:56Z</dcterms:created>
  <dcterms:modified xsi:type="dcterms:W3CDTF">2026-08-20T08:51:20Z</dcterms:modified>
</cp:coreProperties>
</file>